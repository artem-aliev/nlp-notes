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9" autoAdjust="0"/>
    <p:restoredTop sz="95972" autoAdjust="0"/>
  </p:normalViewPr>
  <p:slideViewPr>
    <p:cSldViewPr snapToGrid="0" snapToObjects="1">
      <p:cViewPr varScale="1">
        <p:scale>
          <a:sx n="139" d="100"/>
          <a:sy n="139" d="100"/>
        </p:scale>
        <p:origin x="7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75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361EE">
              <a:alpha val="20000"/>
            </a:srgbClr>
          </a:solidFill>
          <a:ln w="12700">
            <a:solidFill>
              <a:srgbClr val="4361E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Learning: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OpenAI Gym to LLM Alignment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906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Lecture  ·  Neural Networks, Value Functions &amp; RLHF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5029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2412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Gym &amp; Atari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502920" cy="71323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84708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Formulation &amp; Policy Math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87168"/>
            <a:ext cx="502920" cy="7132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67004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" y="26700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for RL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10128"/>
            <a:ext cx="502920" cy="7132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49300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1832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&amp; Gradient Problems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33088"/>
            <a:ext cx="502920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431596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" y="4315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Functions: V(s) and Q(s,a)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84124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41248"/>
            <a:ext cx="502920" cy="7132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02412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76672" y="1024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Extensions &amp; Exploration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66420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664208"/>
            <a:ext cx="502920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84708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76672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vs. End-to-End Training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48716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487168"/>
            <a:ext cx="502920" cy="7132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67004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76672" y="26700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for LLM Alignment (RLHF/PPO)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31012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F6B9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310128"/>
            <a:ext cx="502920" cy="71323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493008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76672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&amp; Constitutional 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OpenAI Gym &amp; Atari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Playground — Where Agents Learn to Play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Reinforcement Learning?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914400"/>
            <a:ext cx="18288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3291840"/>
            <a:ext cx="1828800" cy="6858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3429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600200"/>
            <a:ext cx="0" cy="169164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3291840"/>
            <a:ext cx="0" cy="18288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600200"/>
            <a:ext cx="0" cy="169164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600200"/>
            <a:ext cx="182880" cy="18288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sₜ₊₁, rₜ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914400"/>
            <a:ext cx="28346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91440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005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132588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cumulative reward R = Σ γᵗ rₜ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8346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64008" cy="9144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718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32918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P(a|s): probability of action given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914400"/>
            <a:ext cx="28346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914400"/>
            <a:ext cx="6400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1005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8272" y="132588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(s,a,r) triples until terminal state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880360"/>
            <a:ext cx="28346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2880360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29718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48272" y="32918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discounted future rewards from step 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Gym &amp; Atari Environments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77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Gymnasium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API for RL environments: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env.reset() → obs  |  env.step(action) → (obs, r, done, info)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env.observation_space  |  env.action_space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114800" cy="2834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05740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gymnasium as gym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= gym.make("ALE/Breakout-v5", render_mode="rgb_array")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obs, info = env.reset()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range(1000):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env.action_space.sample()   # random policy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obs, reward, terminated, truncated, info = env.step(action)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terminated or truncated: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obs, info = env.reset()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env.close()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160520" cy="987552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04672"/>
            <a:ext cx="64008" cy="98755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8961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216152"/>
            <a:ext cx="3904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84×84 grayscale frames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4 frames → shape (4, 84, 84)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01952"/>
            <a:ext cx="4160520" cy="987552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901952"/>
            <a:ext cx="64008" cy="9875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9933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2313432"/>
            <a:ext cx="3904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4–18 buttons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4-8 meaningful 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99232"/>
            <a:ext cx="4160520" cy="987552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99232"/>
            <a:ext cx="64008" cy="9875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09067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Signal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410712"/>
            <a:ext cx="3904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delta per step — very sparse!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to {-1, 0, +1} in DQN paper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096512"/>
            <a:ext cx="4160520" cy="987552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4096512"/>
            <a:ext cx="64008" cy="9875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418795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Atari?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4507992"/>
            <a:ext cx="39044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since Mnih et al. 2013 (DQN)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input forces visual representations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MDP &amp; Policy Mathematics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Foundation of Reinforcement Learning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Decision Process (MDP)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MDP is defined by the tuple  M = (S, A, P, R, γ)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96012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08176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5024" y="1335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35024" y="16276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all possible states. Atari: all 84×84×4 pixel tensors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11680"/>
            <a:ext cx="960120" cy="658368"/>
          </a:xfrm>
          <a:prstGeom prst="rect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57984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35024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5024" y="237744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{0,…,|A|-1} or continuous ℝⁿ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61488"/>
            <a:ext cx="859536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61488"/>
            <a:ext cx="960120" cy="658368"/>
          </a:xfrm>
          <a:prstGeom prst="rect">
            <a:avLst/>
          </a:prstGeom>
          <a:solidFill>
            <a:srgbClr val="4361EE">
              <a:alpha val="80000"/>
            </a:srgbClr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907792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P(s'|s,a)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35024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dynamics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35024" y="31272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P(reaching s' from s via a) — unknown in model-free RL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511296"/>
            <a:ext cx="859536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11296"/>
            <a:ext cx="960120" cy="65836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657600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R(s,a,s')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5024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5024" y="38770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feedback. Reward design is the core challenge of RL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261104"/>
            <a:ext cx="8595360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61104"/>
            <a:ext cx="960120" cy="65836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407408"/>
            <a:ext cx="923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∈ [0,1)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35024" y="4334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35024" y="46268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γ→0: myopic.  γ→1: far-sighted.  γ=0.99 common in Atari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Return &amp; The RL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π(a | s)  =  P(Aₜ=a | Sₜ=s)     stochastic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π(s) → a                              deterministic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904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from states to actions — what the agent learns to optimize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85953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56232"/>
            <a:ext cx="64008" cy="9144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293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2037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Gₜ  =  rₜ + γ·rₜ₊₁ + γ²·rₜ₊₂ + …  =  Σₖ₌₀^∞  γᵏ·rₜ₊ₖ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52374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sum of all future rewards from time t onward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85953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9504"/>
            <a:ext cx="6400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62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23697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J(π)  =  𝔼_{τ~π} [ Gₜ ]  =  𝔼_{τ~π} [ Σₜ γᵗ·rₜ 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55701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expected return over trajectories τ = (s₀,a₀,r₀,s₁,…) sampled under 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22776"/>
            <a:ext cx="85953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22776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995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Theorem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4270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∇θ J(πθ)  =  𝔼_{τ~πθ} [ Σₜ ∇θ log πθ(aₜ|sₜ) · Gₜ 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45902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result enabling gradient-based optimization of stochastic policies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Neural Networks for RL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Approximating Policies and Value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 — Atari DQN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stacked frames (4 × 84 × 84)  →  CNN  →  FC  →  Output: Q(s,a) for each 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18872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94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167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4×84×84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984248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234440"/>
            <a:ext cx="146304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1316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6824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stride 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1984248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34440"/>
            <a:ext cx="146304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316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6824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stride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84248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234440"/>
            <a:ext cx="146304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316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68249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stride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984248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234440"/>
            <a:ext cx="137160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13167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512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1682496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units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1984248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1234440"/>
            <a:ext cx="100584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38160" y="13167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168249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units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852928"/>
            <a:ext cx="8595360" cy="41148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ReLU after every conv/FC layer  |  No activation on output (raw Q-values)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364992"/>
            <a:ext cx="859536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4048" y="3456432"/>
            <a:ext cx="8366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DQN(nn.Module):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n_actions):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self.conv = nn.Sequential(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nn.Conv2d(4,  32, 8, stride=4), nn.ReLU(),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nn.Conv2d(32, 64, 4, stride=2), nn.ReLU(),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nn.Conv2d(64, 64, 3, stride=1), nn.ReLU(),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self.fc = nn.Sequential(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nn.Linear(64*7*7, 512), nn.ReLU(),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nn.Linear(512, n_actions)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self.fc(self.conv(x).flatten(1))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Loss Functions &amp; Gradient Problems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 in Deep RL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in Deep RL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8288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— Temporal Difference Loss (Huber / Smooth-L1)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97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 yₜ = rₜ + γ · max_{a'} Q̂(sₜ₊₁, a'; θ⁻)          (θ⁻ = frozen target network)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14904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   L(θ) = 𝔼[(yₜ − Q(sₜ,aₜ;θ))²]    →    ∇θ L = −(yₜ−Q)·∇θ Q(sₜ,aₜ;θ)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δ(e) = e²/2 if |e|≤1 else |e|−½  →  robust to outlier rewards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2880360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43200"/>
            <a:ext cx="64008" cy="2103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816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(Policy Gradient)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3145536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L_PG = −Σₜ log πθ(aₜ|sₜ)·Gₜ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prob of high-return actions 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2743200"/>
            <a:ext cx="2880360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2743200"/>
            <a:ext cx="64008" cy="2103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816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— Clipped Surrogate Loss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73552" y="3145536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rₜ(θ) = πθ(a|s)/πθ_old(a|s)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𝔼[min(rₜAₜ, clip(rₜ,1-ε,1+ε)Aₜ)]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2743200"/>
            <a:ext cx="2880360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2743200"/>
            <a:ext cx="64008" cy="210312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816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(A2C)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08192" y="3145536"/>
            <a:ext cx="26060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L_actor + c₁·L_critic − c₂·H(π)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H(π) entropy bonus for exploration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Propagation Problems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1847088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8470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2161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nets: ∂L/∂θ₁ = ∂L/∂θₙ · Πᵢ ∂θᵢ₊₁/∂θᵢ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|Jacobian| &lt; 1 repeatedly → gradients →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learn nothing. Policy stays random.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920240"/>
            <a:ext cx="38862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EF476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9339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ReLU activations, residual connections, LayerNorm, He / Orthogonal init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206240" cy="1847088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04672"/>
            <a:ext cx="64008" cy="18470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2161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Jacobians &gt; 1 repeatedly → gradients → ∞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diverge, NaNs appear. Frequent in RNNs &amp; long rollouts.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1920240"/>
            <a:ext cx="38862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99339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Gradient clipping  ||g||₂ ← min(1, c/||g||₂)·g    (c ≈ 0.5–5)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16352"/>
            <a:ext cx="4206240" cy="1847088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16352"/>
            <a:ext cx="64008" cy="18470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in Policy Gradient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2278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REINFORCE: Var[∇θ log π · G] is huge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rollouts → wildly different gradient estimates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Slow, unstable learning; needs millions of samples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931920"/>
            <a:ext cx="38862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0507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Baseline b(s).  ∇θ J ∝ (Gₜ−b(sₜ))·∇θ log 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baseline: b(s)=V(s) → Actor-Critic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16352"/>
            <a:ext cx="4206240" cy="1847088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816352"/>
            <a:ext cx="64008" cy="184708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 &amp; Distribution Shift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32278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 change data distribution each step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replay data is off-policy; TD target is moving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3931920"/>
            <a:ext cx="38862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00507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Target networks (freeze θ⁻ every N steps)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replay, PPO trust-region / KL constraint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Value Functions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V(s), Q(s,a) and the Bellman Equations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State-Value and Action-Value Functions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State-Value Function  V^π(s)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25296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V^π(s) = 𝔼π[Gₜ | Sₜ=s]  =  𝔼π[ Σₖ₌₀^∞ γᵏ rₜ₊ₖ | Sₜ=s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08760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 from state s, following policy π. Measures 'how good is it to be in state s?'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859536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65960"/>
            <a:ext cx="64008" cy="1051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57400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Action-Value Function  Q^π(s, 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386584"/>
            <a:ext cx="8339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Q^π(s,a) = 𝔼π[Gₜ | Sₜ=s, Aₜ=a]  =  r(s,a) + γ Σ_{s'} P(s'|s,a) V^π(s')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670048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 of taking action a in state s then following π. Drives greedy policy: π(s) = argmax_a Q(s,a).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85953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27248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18688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Function  A^π(s, 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A^π(s,a) = Q^π(s,a) − V^π(s)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694176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better/worse is action a compared to the average action at state s? Key for variance reduction.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416052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Expectation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V^π(s) = Σ_a π(a|s)[r(s,a) + γ Σ_{s'} P(s'|s,a)V^π(s')]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4160520"/>
            <a:ext cx="416052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Optimality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507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Q*(s,a) = r(s,a) + γ Σ_{s'} P(s'|s,a) max_{a'} Q*(s',a')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Learning, MC &amp; Eligibility Traces TD(λ)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spectrum between Monte-Carlo (unbiased, high variance) and TD(0) (biased, low variance)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880360" cy="365760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2880360" cy="411480"/>
          </a:xfrm>
          <a:prstGeom prst="rect">
            <a:avLst/>
          </a:prstGeom>
          <a:solidFill>
            <a:srgbClr val="4361EE">
              <a:alpha val="80000"/>
            </a:srgbClr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use full episode return Gₜ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Vθ(sₜ) ← Vθ(sₜ) + α(Gₜ − Vθ(sₜ))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Unbiased estimate of 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High variance (long trajectories)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Needs episode to finish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2880360" cy="3657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07008"/>
            <a:ext cx="2880360" cy="4114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61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TD(0) — 1-step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64208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from next state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δₜ = rₜ+γV(sₜ₊₁)−V(sₜ)  (TD error)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Vθ(sₜ) ← Vθ(sₜ) + α·δₜ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Low variance, online updates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Biased (bootstraps off approx V)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07008"/>
            <a:ext cx="2880360" cy="3657600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07008"/>
            <a:ext cx="2880360" cy="411480"/>
          </a:xfrm>
          <a:prstGeom prst="rect">
            <a:avLst/>
          </a:prstGeom>
          <a:solidFill>
            <a:srgbClr val="F4845F">
              <a:alpha val="80000"/>
            </a:srgbClr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261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TD(λ) — λ-return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664208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traces: eₜ(s) = γλeₜ₋₁(s) + ∇V(sₜ)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Gₜ^λ = (1-λ)Σₙ₌₁^∞ λⁿ⁻¹ Gₜ^(n)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+ α·δₜ·eₜ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Interpolates MC ↔ TD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λ=0: pure TD  |  λ=1: pure MC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DQN Extensions &amp; Exploration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DQN, Dueling, Prioritized Replay &amp; Beyond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Extensions — Double DQN &amp; Dueling Networks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9202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 (van Hasselt et al., 2016) — Fix Overestimation Bias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887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DQN overestimates Q-values: max_{a'} Q(s',a';θ⁻) is biased high due to noise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DQN: decouple action selection and evaluation with two separate networks: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yₜ = rₜ + γ · Q(sₜ₊₁, argmax_{a'} Q(sₜ₊₁,a';θ); θ⁻)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20299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net θ selects action  |  Target net θ⁻ evaluates it  →  removes maximisation bias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206240" cy="2029968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34640"/>
            <a:ext cx="64008" cy="20299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Networks (Wang et al., 2016)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218688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backbone → two heads: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V(s; θ, α)   — value stream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A(s,a; θ, β) — advantage stream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Combined: Q(s,a) = V(s) + (A(s,a) − mean_{a'} A(s,a'))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mean? Keeps V and A identifiable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206240" cy="2029968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64008" cy="20299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Replay (Schaul et al., 2016)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3218688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transitions with P(i) ∝ |δᵢ|^α + 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(higher TD-error = higher priority)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 weights: wᵢ = (N·P(i))^{-β}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sampling bias introduced by PER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α∈[0,1] prioritization | β∈[0,1] correction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Strategies — The Explore / Exploit Dilemma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83464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834640" cy="36576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43584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 ε: random action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 1-ε: greedy action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decay: ε: 1.0→0.1 over 1M steps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widely used, but undirected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83464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04672"/>
            <a:ext cx="2834640" cy="36576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 (Upper Confidence Bound)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243584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argmax_a [Q(a) + c·√(ln t / Nₐ)]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less-explored actions more often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for bandits, harder in full MDPs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804672"/>
            <a:ext cx="283464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04672"/>
            <a:ext cx="2834640" cy="36576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Boltzmann / Softmax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243584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π(a|s) = exp(Q(s,a)/τ) / Σ exp(Q(s,a')/τ)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temperature (high → uniform, low → greedy)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exploration than ε-greedy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283464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44368"/>
            <a:ext cx="2834640" cy="365760"/>
          </a:xfrm>
          <a:prstGeom prst="rect">
            <a:avLst/>
          </a:prstGeom>
          <a:solidFill>
            <a:srgbClr val="F4845F">
              <a:alpha val="80000"/>
            </a:srgbClr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99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Curiosity-Driven Exploration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reward = prediction error of forward model: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rᵢₙₜ = ||f̂(sₜ,aₜ) − sₜ₊₁||²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 (Pathak et al. 2017) — great for sparse reward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944368"/>
            <a:ext cx="283464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44368"/>
            <a:ext cx="2834640" cy="365760"/>
          </a:xfrm>
          <a:prstGeom prst="rect">
            <a:avLst/>
          </a:prstGeom>
          <a:solidFill>
            <a:srgbClr val="4361EE">
              <a:alpha val="80000"/>
            </a:srgbClr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99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NoisyNets (Fortunato et al., 2017)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3832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ε-greedy with learned noise in weights: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μ + σ⊙ε   ε ~ N(0,1)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part of network, trained end-to-end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944368"/>
            <a:ext cx="283464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44368"/>
            <a:ext cx="2834640" cy="365760"/>
          </a:xfrm>
          <a:prstGeom prst="rect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99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Go-Explore (Ecoffet et al., 2021)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3832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promising states in archive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env to archived state, explore from there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Montezuma's Revenge (hard exploration)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DQN &amp; Soft Actor-Critic (SAC)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4041648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206240" cy="384048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DQN (Hessel et al., 2018)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16736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0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13807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92224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56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Double DQN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1856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overestimation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67712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31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Prioritized Replay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sampling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43200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Dueling Nets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28072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value estimation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826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Multi-step Returns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32826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n-step TD targets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94176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581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NoisyNets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3758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exploration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69664"/>
            <a:ext cx="38862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33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Distributional RL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0" y="4233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reward distribution C51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66344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improvements → +50% Atari median over vanilla DQN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206240" cy="4041648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804672"/>
            <a:ext cx="4206240" cy="384048"/>
          </a:xfrm>
          <a:prstGeom prst="rect">
            <a:avLst/>
          </a:prstGeom>
          <a:solidFill>
            <a:srgbClr val="F4845F">
              <a:alpha val="75000"/>
            </a:srgbClr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Actor-Critic (SAC) — Continuous Control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Entropy-maximisation objective: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1572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J(π) = Σₜ 𝔼[rₜ + α·H(π(·|sₜ))]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19202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temperature (auto-tuned)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H(π) = −𝔼[log π]  (entropy bonus)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two Q-nets + policy net: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Q2 → take min to prevent overestimation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squashed Gaussian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 = tanh(μ + σ·ε),  ε~N(0,1)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→ sample efficient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MuJoCo continuous 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no hyperparameter sensitivity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Separate vs End-to-End Training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Actor-Critic, DQN, and Beyond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Value Functions Separately — DQN Training Loop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Q̂θ(s,a) first, then derive policy: π(s) = argmax_a Q̂(s,a)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804672" cy="114300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00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Collect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policy in env. Store (s,a,r,s') in replay buffer 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0624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48CAE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804672" cy="1143000"/>
          </a:xfrm>
          <a:prstGeom prst="rect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6002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4630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minibatch B ~ D uniformly at random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496312"/>
            <a:ext cx="420624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96312"/>
            <a:ext cx="804672" cy="114300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620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Target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7249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= rᵢ + γ max_{a'} Q̂(sᵢ₊₁,a'; θ⁻)   (frozen target net θ⁻)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20624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496312"/>
            <a:ext cx="804672" cy="1143000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8620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Loss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7249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L(θ) = (1/|B|) Σᵢ Huber(yᵢ − Q(sᵢ,aᵢ;θ))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758184"/>
            <a:ext cx="420624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58184"/>
            <a:ext cx="804672" cy="11430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1239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Update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98678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− α ∇θ L(θ)   via Adam/RMSProp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420624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758184"/>
            <a:ext cx="804672" cy="1143000"/>
          </a:xfrm>
          <a:prstGeom prst="rect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41239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Sync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98678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steps: θ⁻ ← θ   (target network hard update)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 — Actor-Critic &amp; PPO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policy π and value function V jointly with shared backbone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389888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103120" cy="1024128"/>
          </a:xfrm>
          <a:prstGeom prst="rect">
            <a:avLst/>
          </a:prstGeom>
          <a:solidFill>
            <a:srgbClr val="1A2E4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 / MLP)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883664"/>
            <a:ext cx="6217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883664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883664"/>
            <a:ext cx="0" cy="53035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70432"/>
            <a:ext cx="26060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618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 π(a|s;θπ)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probabilities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883664"/>
            <a:ext cx="26060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9751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 V(s;θv)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 value estimate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1536192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24028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536192"/>
            <a:ext cx="0" cy="7040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1664208"/>
            <a:ext cx="2487168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173736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 = rₜ+γV(sₜ₊₁)−V(sₜ)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2084832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8163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Loss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12724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L_actor = −log π(aₜ|sₜ)·Aₜ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PPO: min(rₜAₜ, clip(rₜ,1-ε,1+ε)Aₜ)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743200"/>
            <a:ext cx="2084832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28163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60320" y="312724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L_critic = (Vθ(sₜ) − Rₜ)²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Rₜ = rₜ + γV(sₜ₊₁) (TD target)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2084832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28163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Bonus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312724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L_H = −β·Σ_a π(a|s)log π(a|s)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Prevents policy collapse → exploration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2743200"/>
            <a:ext cx="2084832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28163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49440" y="3127248"/>
            <a:ext cx="1901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L_actor + c₁·L_critic − c₂·L_H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Backprop through shared backbone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— Separate vs. End-to-End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3525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 Training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Policy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</a:rPr>
                        <a:t>DQN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Separate Q-net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argmax Q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Stable, simple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Discrete A only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</a:rPr>
                        <a:t>REINFORCE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Monte-Carlo PG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Unbiased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High variance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</a:rPr>
                        <a:t>A2C / A3C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Shared backbone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PG + advantage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Sample efficient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LR sensitive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</a:rPr>
                        <a:t>PPO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Shared backbone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Clipped PG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Robust, stable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Hyper tuning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</a:rPr>
                        <a:t>SAC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Two Q-nets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Entropy-max PG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Continuous SOTA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Complex, off-policy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</a:rPr>
                        <a:t>TD-MPC2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World 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Model-based MPC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Very efficient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Planning overhead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72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754880"/>
            <a:ext cx="8595360" cy="18288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7640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SOTA uses end-to-end shared representations — backbone gradients flow through actor and critic heads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RL for LLM Alignment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— Reinforcement Learning from Human Feedback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Pipeline — Three-Phase Training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298448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94360" cy="129844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527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(SFT)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LLM on curated (prompt, response) pairs from human experts.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cross-entropy: L_SFT = −Σₜ log p_θ(yₜ|y&lt;ₜ,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π_SFT — well-formatted, instruction-following baseline model.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8595360" cy="1298448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40280"/>
            <a:ext cx="594360" cy="1298448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7004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 Training  (Bradley-Terry)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comparisons: (x, y_w, y_l) — winner vs loser response.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L_RM = −𝔼[log σ(r_φ(x,y_w) − r_φ(x,y_l))]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r_φ — scalar reward model mimicking human preference judgements.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595360" cy="1298448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594360" cy="1298448"/>
          </a:xfrm>
          <a:prstGeom prst="rect">
            <a:avLst/>
          </a:prstGeom>
          <a:solidFill>
            <a:srgbClr val="7B2FBE">
              <a:alpha val="8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873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Fine-Tuning with PPO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max_θ  𝔼[r_φ(x,y)] − β·KL[πθ(·|x) || π_SFT(·|x)]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with clipped surrogate loss. KL term prevents reward hacking.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aligned LLM π_θ that generates helpful, harmless, honest responses.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for LLMs — Full Objective &amp; RL Formulation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96112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PPO-RLHF 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25296"/>
            <a:ext cx="8339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max_θ  𝔼(x,y)~πθ [ r_φ(x,y) ]  −  β · KL[ πθ(·|x) || πSFT(·|x) ]  +  γ · L_pt(θ)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r_φ: reward model score  |  β·KL: keeps policy close to SFT (prevents reward hacking)  |  γ·L_pt: preserves language model capabilities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2834640" cy="26974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21408"/>
            <a:ext cx="2834640" cy="36576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Formulation for LLMs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532888"/>
            <a:ext cx="26517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sₜ = (x, y₁, …, yₜ)  —  context so far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aₜ = next token  |A| = vocab size (~50k)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0 at each step; r_φ(x,y) at EOS token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= one full response generation from 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121408"/>
            <a:ext cx="2834640" cy="2697480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121408"/>
            <a:ext cx="2834640" cy="365760"/>
          </a:xfrm>
          <a:prstGeom prst="rect">
            <a:avLst/>
          </a:prstGeom>
          <a:solidFill>
            <a:srgbClr val="EF476F">
              <a:alpha val="75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&amp; KL Penalty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532888"/>
            <a:ext cx="26517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exploits r_φ: verbose, sycophantic, reward-gaming 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penalty  β·KL[πθ || πSFT]  is critical regulariser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too small → hacking   |   β too large → no alignment gain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β: adjust based on KL budget at each update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121408"/>
            <a:ext cx="2834640" cy="269748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21408"/>
            <a:ext cx="2834640" cy="365760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Rollout for LLMs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2532888"/>
            <a:ext cx="26517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Sample prompt x ~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y ~ πθ(·|x)  (autoregressive)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Score: r = r_φ(x,y) − β·log(πθ(y|x)/πSFT(y|x))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GAE advantages for each token step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PPO update: clip ratio, update shared LLM backbone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63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DPO &amp; Constitutional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RLHF — Scalable Alignment Methods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Preference Optimisation (DPO)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eliminates the reward model — directly optimises preferences on the LLM policy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1444752"/>
          </a:xfrm>
          <a:prstGeom prst="rect">
            <a:avLst/>
          </a:prstGeom>
          <a:solidFill>
            <a:srgbClr val="1A2E4A"/>
          </a:solidFill>
          <a:ln w="12700">
            <a:solidFill>
              <a:srgbClr val="FF6B9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64008" cy="14447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435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optimal policy has a closed-form 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π*(y|x)  =  (1/Z(x)) · πSFT(y|x) · exp(r*(x,y) / 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883664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Re-arrange: implicit reward from optimal policy  r*(x,y) = β·log(π*(y|x)/πSFT(y|x)) + β·log Z(x)  →  substitute into Bradley-Terry: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8595360" cy="1078992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24912"/>
            <a:ext cx="64008" cy="10789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7980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Loss — no reward model needed!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3108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L_DPO(πθ) = −𝔼(x,yw,yl) [ log σ( β·log πθ(yw|x)/πref(yw|x) − β·log πθ(yl|x)/πref(yl|x) ) 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" y="34655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increases likelihood of yw, decreases likelihood of yl — relative to reference policy πref=πSFT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13632"/>
            <a:ext cx="2724912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(PPO)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2702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Flexible reward shaping  ✅ Multi-objective rewards  ✅ Online exploration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Reward model needed  ❌ PPO instability  ❌ Expensive compute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3913632"/>
            <a:ext cx="2724912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FF6B9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18688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2702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reward model  ✅ Stable supervised training  ✅ Simpler pipeline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4526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Off-policy static data  ❌ No online exploration  ❌ May underfit complex prefs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3913632"/>
            <a:ext cx="2724912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53328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/ KTO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42702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Fixes DPO overfitting  ✅ KTO: binary signals only  ✅ More robust to noise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45262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Even less explored  ❌ New hyperparameters  ❌ Less theoretical backing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&amp; RLAIF — Scaling Alignment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4041648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206240" cy="384048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(CAI — Anthropic, 2022)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3886200" cy="749808"/>
          </a:xfrm>
          <a:prstGeom prst="rect">
            <a:avLst/>
          </a:prstGeom>
          <a:solidFill>
            <a:srgbClr val="0F1B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0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SFT on Helpful Demos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550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 model on helpful responses (may be harmful)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3886200" cy="749808"/>
          </a:xfrm>
          <a:prstGeom prst="rect">
            <a:avLst/>
          </a:prstGeom>
          <a:solidFill>
            <a:srgbClr val="0F1B2D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94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Critique &amp; Revise (SL-CAI)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2374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model to critique its output against a principle 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'constitution'). Generate revised, harmless responses.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3886200" cy="749808"/>
          </a:xfrm>
          <a:prstGeom prst="rect">
            <a:avLst/>
          </a:prstGeom>
          <a:solidFill>
            <a:srgbClr val="0F1B2D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Preference Data via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9242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pairs: original vs revised. AI model labels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follows constitution better (RLAIF signal).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3886200" cy="749808"/>
          </a:xfrm>
          <a:prstGeom prst="rect">
            <a:avLst/>
          </a:prstGeom>
          <a:solidFill>
            <a:srgbClr val="0F1B2D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867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RLHF on AI Feedback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6110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reward model on AI-labeled pairs, then RL fine-tune.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labelling of harmful content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4206240" cy="4041648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04672"/>
            <a:ext cx="4206240" cy="384048"/>
          </a:xfrm>
          <a:prstGeom prst="rect">
            <a:avLst/>
          </a:prstGeom>
          <a:solidFill>
            <a:srgbClr val="7B2FBE">
              <a:alpha val="7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— RL from AI Feedback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261872"/>
            <a:ext cx="39319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expensive human labellers with a capable AI judge (e.g. Claude evaluating Claude)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Generate candidate responses (y1, y2) to prompt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AI judge scores: P(y1 ≻ y2 | x, principle)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Use scores as soft preference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Train reward model on AI preferences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PPO fine-tune with that reward 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(Lee et al. 2023):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RLAIF ≈ RLHF on helpfulness benchmarks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10-100× cheaper to scale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Risk: AI judge has same biases as 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scalable oversight: as models become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capable, AI evaluation becomes more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and humans cannot evaluate anyway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Shaping, Sparse Rewards &amp; Practical Tips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rewards and getting RL to work in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834640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2834640" cy="347472"/>
          </a:xfrm>
          <a:prstGeom prst="rect">
            <a:avLst/>
          </a:prstGeom>
          <a:solidFill>
            <a:srgbClr val="F4845F">
              <a:alpha val="78000"/>
            </a:srgbClr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shaped reward to guide exploration: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R'(s,a,s') = R(s,a,s') + γΦ(s') − Φ(s)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potential function. Ng et al. (1999) proved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potential-based shaping preserves optimal policy.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2834640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07008"/>
            <a:ext cx="2834640" cy="347472"/>
          </a:xfrm>
          <a:prstGeom prst="rect">
            <a:avLst/>
          </a:prstGeom>
          <a:solidFill>
            <a:srgbClr val="00B4D8">
              <a:alpha val="7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vs Dense Rewards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+1 at goal only → hard exploration problem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reward at each step → easier but can mislead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clipping {-1,0,+1} stabilises gradients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HER: relabel failed trajectories as successful to different goals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07008"/>
            <a:ext cx="2834640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07008"/>
            <a:ext cx="2834640" cy="347472"/>
          </a:xfrm>
          <a:prstGeom prst="rect">
            <a:avLst/>
          </a:prstGeom>
          <a:solidFill>
            <a:srgbClr val="06D6A0">
              <a:alpha val="7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61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Experience Replay (HER)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62763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episode (s,a,s') to reach goal 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 as if g' = s' was the goal → positive reward!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Andrychowicz et al. 2017 — enables learning from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failures; crucial for robotic manipulation tasks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2834640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10128"/>
            <a:ext cx="2834640" cy="347472"/>
          </a:xfrm>
          <a:prstGeom prst="rect">
            <a:avLst/>
          </a:prstGeom>
          <a:solidFill>
            <a:srgbClr val="FFD166">
              <a:alpha val="7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73075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easy tasks, gradually increase difficulty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Self-play: agent plays against itself (AlphaGo, OpenAI Five)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adjusts to agent's current skill level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(Domain Randomisation): vary env parameters for sim2real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3310128"/>
            <a:ext cx="2834640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310128"/>
            <a:ext cx="2834640" cy="347472"/>
          </a:xfrm>
          <a:prstGeom prst="rect">
            <a:avLst/>
          </a:prstGeom>
          <a:solidFill>
            <a:srgbClr val="4361EE">
              <a:alpha val="78000"/>
            </a:srgbClr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Hyperparameters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73075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γ=0.99 · α=2.5e-4 (PPO) or 1e-4 (DQN)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PPO: clip ε=0.2 · batch=64 · epochs=4 per rollout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buffer: 1M · batch=32 · update every 4 steps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 sync: every 1000 steps for DQN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310128"/>
            <a:ext cx="2834640" cy="1965960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310128"/>
            <a:ext cx="2834640" cy="347472"/>
          </a:xfrm>
          <a:prstGeom prst="rect">
            <a:avLst/>
          </a:prstGeom>
          <a:solidFill>
            <a:srgbClr val="EF476F">
              <a:alpha val="78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730752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hacking: agent exploits loopholes in 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collapse: policy converges to one action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forgetting: new skill erases old 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inefficiency: needs 10⁷–10⁹ env steps for Atari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RL: (S,A,P,R,γ) + Bellman equations. Discount γ balances myopia vs foresight.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4361E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64008" cy="96012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2344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CNN→FC for pixels; He-init + ReLU; shared backbone for actor-critic.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01952"/>
            <a:ext cx="64008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993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3134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for DQN, PG loss for policy, entropy bonus for exploration, PPO clips ratio.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901952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01952"/>
            <a:ext cx="64008" cy="9601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993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3134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nets, replay, grad-clip, KL constraints all combat training instability.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80944"/>
            <a:ext cx="64008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723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39242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 baseline cuts variance. Q(s,a) drives greedy π. Advantage Aₜ=Q−V is key.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80944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F484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80944"/>
            <a:ext cx="64008" cy="9601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723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Extensions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39242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DQN, Dueling, PER, NoisyNets, TD(λ) each address specific failure modes.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059936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59936"/>
            <a:ext cx="64008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151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912" y="44714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→ Bradley-Terry RM → PPO with KL penalty. Token=action, response=episode.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4059936"/>
            <a:ext cx="425196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FF6B9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4059936"/>
            <a:ext cx="64008" cy="96012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4151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&amp; CAI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73752" y="44714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DPO: supervised alignment without RM. CAI+RLAIF: scalable AI-driven alignment.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4561</Words>
  <Application>Microsoft Office PowerPoint</Application>
  <PresentationFormat>On-screen Show (16:9)</PresentationFormat>
  <Paragraphs>541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Learning: From OpenAI Gym to LLM Alignment</dc:title>
  <dc:subject>PptxGenJS Presentation</dc:subject>
  <dc:creator>PptxGenJS</dc:creator>
  <cp:lastModifiedBy>Artem Aliev</cp:lastModifiedBy>
  <cp:revision>1</cp:revision>
  <dcterms:created xsi:type="dcterms:W3CDTF">2026-03-18T08:11:13Z</dcterms:created>
  <dcterms:modified xsi:type="dcterms:W3CDTF">2026-03-18T08:18:12Z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1773309973</vt:lpwstr>
  </property>
</Properties>
</file>