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9" autoAdjust="0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282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0"/>
            <a:ext cx="36576" cy="51435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методы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и информационного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3200400" cy="36576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  ·  Информационный поиск и обработка текстов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/ 2025 учебный год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640080"/>
            <a:ext cx="27432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640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Токенизация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(Tokenization)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96912" y="1143000"/>
            <a:ext cx="36576" cy="155448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120700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E9AF1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298448"/>
            <a:ext cx="27432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984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POS-теги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 Tagging)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96912" y="1801368"/>
            <a:ext cx="36576" cy="155448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1865376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E9AF1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1956816"/>
            <a:ext cx="27432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9568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Синтаксич. разбор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(Parsing)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96912" y="2459736"/>
            <a:ext cx="36576" cy="155448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2523744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E9AF1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2615184"/>
            <a:ext cx="2743200" cy="502920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6151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96912" y="3118104"/>
            <a:ext cx="36576" cy="155448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3182112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E9AF1"/>
                </a:solidFill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3273552"/>
            <a:ext cx="2743200" cy="502920"/>
          </a:xfrm>
          <a:prstGeom prst="rect">
            <a:avLst/>
          </a:prstGeom>
          <a:solidFill>
            <a:srgbClr val="1A5C3A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273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(Inference)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NLP? Области применения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— обработка естественного языка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51760" cy="1371600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5544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Информационный поиск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938528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Yandex, корпоративные поисковики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463040"/>
            <a:ext cx="2651760" cy="1371600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64408" y="15544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Машинный перевод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64408" y="1938528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DeepL, Google Translate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GPT-4-based systems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463040"/>
            <a:ext cx="2651760" cy="1371600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99048" y="15544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Ответы на вопросы (QA)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9048" y="1938528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Bing Chat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RAG-системы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2651760" cy="1371600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31089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Суммаризация текстов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" y="3493008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Новостные агрегаторы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Автоматические рефераты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3017520"/>
            <a:ext cx="2651760" cy="1371600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64408" y="31089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Генерация кода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64408" y="3493008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Copilot, Claude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AI-ассистенты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охватывает весь спектр задач от правил 1950-х до трансформеров GPT-4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 Хомского (Chomsky Hierarchy)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формальных грамматик и их вычислительная мощность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5943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1691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17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Грамматика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7373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11430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17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783080"/>
            <a:ext cx="594360" cy="640080"/>
          </a:xfrm>
          <a:prstGeom prst="rect">
            <a:avLst/>
          </a:prstGeom>
          <a:solidFill>
            <a:srgbClr val="2D5B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" y="1783080"/>
            <a:ext cx="521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1783080"/>
            <a:ext cx="1691640" cy="640080"/>
          </a:xfrm>
          <a:prstGeom prst="rect">
            <a:avLst/>
          </a:prstGeom>
          <a:solidFill>
            <a:srgbClr val="2D5B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1783080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Неограниченная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1783080"/>
            <a:ext cx="1737360" cy="640080"/>
          </a:xfrm>
          <a:prstGeom prst="rect">
            <a:avLst/>
          </a:prstGeom>
          <a:solidFill>
            <a:srgbClr val="2D5B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2616" y="178308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 Тьюринга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1783080"/>
            <a:ext cx="1143000" cy="640080"/>
          </a:xfrm>
          <a:prstGeom prst="rect">
            <a:avLst/>
          </a:prstGeom>
          <a:solidFill>
            <a:srgbClr val="2D5B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9976" y="178308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423160"/>
            <a:ext cx="594360" cy="64008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2423160"/>
            <a:ext cx="521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4400" y="2423160"/>
            <a:ext cx="1691640" cy="64008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2423160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Контекстно-зависимая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(Context-Sensitive)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423160"/>
            <a:ext cx="1737360" cy="64008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42616" y="242316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Линейно-огранич.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 (LBA)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2423160"/>
            <a:ext cx="1143000" cy="64008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9976" y="24231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aⁿbⁿcⁿ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063240"/>
            <a:ext cx="594360" cy="640080"/>
          </a:xfrm>
          <a:prstGeom prst="rect">
            <a:avLst/>
          </a:prstGeom>
          <a:solidFill>
            <a:srgbClr val="1E3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" y="3063240"/>
            <a:ext cx="521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14400" y="3063240"/>
            <a:ext cx="1691640" cy="640080"/>
          </a:xfrm>
          <a:prstGeom prst="rect">
            <a:avLst/>
          </a:prstGeom>
          <a:solidFill>
            <a:srgbClr val="1E3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3063240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Контекстно-свободная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(Context-Free, CFG)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06040" y="3063240"/>
            <a:ext cx="1737360" cy="640080"/>
          </a:xfrm>
          <a:prstGeom prst="rect">
            <a:avLst/>
          </a:prstGeom>
          <a:solidFill>
            <a:srgbClr val="1E3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42616" y="30632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 с магазином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(PDA)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43400" y="3063240"/>
            <a:ext cx="1143000" cy="640080"/>
          </a:xfrm>
          <a:prstGeom prst="rect">
            <a:avLst/>
          </a:prstGeom>
          <a:solidFill>
            <a:srgbClr val="1E3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79976" y="306324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aⁿbⁿ, языки прогр.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703320"/>
            <a:ext cx="594360" cy="640080"/>
          </a:xfrm>
          <a:prstGeom prst="rect">
            <a:avLst/>
          </a:prstGeom>
          <a:solidFill>
            <a:srgbClr val="0D2B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" y="3703320"/>
            <a:ext cx="521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14400" y="3703320"/>
            <a:ext cx="1691640" cy="640080"/>
          </a:xfrm>
          <a:prstGeom prst="rect">
            <a:avLst/>
          </a:prstGeom>
          <a:solidFill>
            <a:srgbClr val="0D2B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" y="3703320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Регулярная (Regular)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06040" y="3703320"/>
            <a:ext cx="1737360" cy="640080"/>
          </a:xfrm>
          <a:prstGeom prst="rect">
            <a:avLst/>
          </a:prstGeom>
          <a:solidFill>
            <a:srgbClr val="0D2B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42616" y="37033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Конечный автомат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43400" y="3703320"/>
            <a:ext cx="1143000" cy="640080"/>
          </a:xfrm>
          <a:prstGeom prst="rect">
            <a:avLst/>
          </a:prstGeom>
          <a:solidFill>
            <a:srgbClr val="0D2B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79976" y="370332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(ab)*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97980" y="1417320"/>
            <a:ext cx="1188720" cy="530352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97980" y="14173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77940" y="2011680"/>
            <a:ext cx="1828800" cy="530352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7940" y="20116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Контекстно-своб.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57900" y="2606040"/>
            <a:ext cx="246888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57900" y="26060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Контекстно-зав.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760720" y="3200400"/>
            <a:ext cx="3063240" cy="530352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320040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0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Неограниченные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715000" y="38587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E9AF1"/>
                </a:solidFill>
              </a:rPr>
              <a:t>Каждый тип ⊂ следующего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Контекстно-свободные грамматики (CFG)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Grammars — основа синтаксического анализа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3474720" cy="141732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CFG: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46504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NP VP      PP → P NP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 → Det N | NP 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 → V NP | VP 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 → a | the    V → saw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→ man | telescope  P → with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1417320"/>
            <a:ext cx="4846320" cy="1417320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Предложение: «I saw a man with a telescope»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7830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предложение синтаксически неоднозначно: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 «with a telescope» может присоединяться к VP (кто смотрит в телескоп?)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 «with a telescope» может присоединяться к NP «man» (у какого мужчины телескоп?)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8803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синтаксических дерева (Structural Ambiguity):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172968"/>
            <a:ext cx="3931920" cy="23774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1729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 A: PP прикреплён к VP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3447288"/>
            <a:ext cx="530352" cy="246888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344728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360" y="3794760"/>
            <a:ext cx="530352" cy="246888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9476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3794760"/>
            <a:ext cx="530352" cy="246888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79476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76856" y="3694176"/>
            <a:ext cx="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76856" y="3694176"/>
            <a:ext cx="123444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142232"/>
            <a:ext cx="530352" cy="246888"/>
          </a:xfrm>
          <a:prstGeom prst="rect">
            <a:avLst/>
          </a:prstGeom>
          <a:solidFill>
            <a:srgbClr val="1A5C3A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4223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06040" y="4142232"/>
            <a:ext cx="530352" cy="246888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414223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20440" y="4142232"/>
            <a:ext cx="530352" cy="246888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414223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59536" y="4041648"/>
            <a:ext cx="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11296" y="4041648"/>
            <a:ext cx="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11296" y="4041648"/>
            <a:ext cx="27432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06040" y="4489704"/>
            <a:ext cx="530352" cy="246888"/>
          </a:xfrm>
          <a:prstGeom prst="rect">
            <a:avLst/>
          </a:prstGeom>
          <a:solidFill>
            <a:srgbClr val="1A5C3A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448970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46120" y="4489704"/>
            <a:ext cx="530352" cy="246888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448970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96512" y="4489704"/>
            <a:ext cx="530352" cy="246888"/>
          </a:xfrm>
          <a:prstGeom prst="rect">
            <a:avLst/>
          </a:prstGeom>
          <a:solidFill>
            <a:srgbClr val="99001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96512" y="448970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871216" y="4389120"/>
            <a:ext cx="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11296" y="4041648"/>
            <a:ext cx="850392" cy="448056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782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PP→VP: «наблюдатель использует телескоп»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172968"/>
            <a:ext cx="3931920" cy="23774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1729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 B: PP прикреплён к NP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55080" y="3447288"/>
            <a:ext cx="530352" cy="246888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44728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37760" y="3794760"/>
            <a:ext cx="530352" cy="246888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79476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589520" y="3794760"/>
            <a:ext cx="530352" cy="246888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79476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620256" y="3694176"/>
            <a:ext cx="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20256" y="3694176"/>
            <a:ext cx="123444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37760" y="4142232"/>
            <a:ext cx="530352" cy="246888"/>
          </a:xfrm>
          <a:prstGeom prst="rect">
            <a:avLst/>
          </a:prstGeom>
          <a:solidFill>
            <a:srgbClr val="1A5C3A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414223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49440" y="4142232"/>
            <a:ext cx="530352" cy="246888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414223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863840" y="4142232"/>
            <a:ext cx="530352" cy="246888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63840" y="414223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NP+PP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202936" y="4041648"/>
            <a:ext cx="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54696" y="4041648"/>
            <a:ext cx="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54696" y="4041648"/>
            <a:ext cx="27432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49440" y="4489704"/>
            <a:ext cx="530352" cy="246888"/>
          </a:xfrm>
          <a:prstGeom prst="rect">
            <a:avLst/>
          </a:prstGeom>
          <a:solidFill>
            <a:srgbClr val="1A5C3A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448970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589520" y="4489704"/>
            <a:ext cx="530352" cy="246888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89520" y="448970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439912" y="4489704"/>
            <a:ext cx="530352" cy="246888"/>
          </a:xfrm>
          <a:prstGeom prst="rect">
            <a:avLst/>
          </a:prstGeom>
          <a:solidFill>
            <a:srgbClr val="99001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39912" y="448970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214616" y="4389120"/>
            <a:ext cx="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29016" y="4389120"/>
            <a:ext cx="0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29016" y="4389120"/>
            <a:ext cx="576072" cy="100584"/>
          </a:xfrm>
          <a:prstGeom prst="line">
            <a:avLst/>
          </a:prstGeom>
          <a:noFill/>
          <a:ln w="12700">
            <a:solidFill>
              <a:srgbClr val="A8C8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4782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PP→NP: «мужчина с телескопом»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Структурная неоднозначность — ключевая проблема синтаксического анализа (Parsing)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Parsing — Деревья зависимостей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 через отношения слов, а не фразовые структуры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2468880"/>
            <a:ext cx="594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70432" y="2468880"/>
            <a:ext cx="594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468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93392" y="2468880"/>
            <a:ext cx="594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468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24912" y="2468880"/>
            <a:ext cx="594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468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64992" y="2468880"/>
            <a:ext cx="594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468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96512" y="2468880"/>
            <a:ext cx="594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4688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63040" y="2468880"/>
            <a:ext cx="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468880"/>
            <a:ext cx="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1920240"/>
            <a:ext cx="64008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17190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0" y="2468880"/>
            <a:ext cx="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2468880"/>
            <a:ext cx="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1463040"/>
            <a:ext cx="82296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1261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nsubj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0" y="2468880"/>
            <a:ext cx="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2468880"/>
            <a:ext cx="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1463040"/>
            <a:ext cx="73152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12618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017520" y="2468880"/>
            <a:ext cx="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2468880"/>
            <a:ext cx="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17520" y="1920240"/>
            <a:ext cx="137160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17190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pobj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89120" y="2468880"/>
            <a:ext cx="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2468880"/>
            <a:ext cx="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1874520"/>
            <a:ext cx="73152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16733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011680" y="28529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0011"/>
                </a:solidFill>
              </a:rPr>
              <a:t>ROOT (sat)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Dependencies (UD) — стандарт разметки зависимостей для 100+ языков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337560"/>
            <a:ext cx="4114800" cy="150876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383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Constituency (КСГ)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3712464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Явная структура фраз (NP, VP)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Хорошо для генерации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Сложнее для кросс-язычного NLP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Зависит от языковых фраз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3337560"/>
            <a:ext cx="4114800" cy="1508760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383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(зависимости)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46320" y="3712464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Язык-независимый формат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Компактнее, быстрее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Подходит для IE-задач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Сложнее определить фразы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Морфологический анализ (Morphological Analysis)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Стемминг, лемматизация и POS-теги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3931920" cy="137160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Стемминг Портера (Porter Stemmer)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 →  run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causes   →  caus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studies  →  studi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   →  better 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Алгоритм: серия правил замены суффиксов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4343400" cy="1371600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Лемматизация (Lemmatization)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783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 →  run  (глагол)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   →  good (прилаг.)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went     →  go   (глагол)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 словарь + морфологические правила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7315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260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POS-тег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51560" y="2926080"/>
            <a:ext cx="21945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926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926080"/>
            <a:ext cx="18288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18688"/>
            <a:ext cx="731520" cy="30175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1868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" y="3218688"/>
            <a:ext cx="2194560" cy="30175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21868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Существительное (Noun)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3218688"/>
            <a:ext cx="1828800" cy="30175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21868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«cat», «table»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520440"/>
            <a:ext cx="731520" cy="30175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204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51560" y="3520440"/>
            <a:ext cx="2194560" cy="30175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5204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Глагол (Verb)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3520440"/>
            <a:ext cx="1828800" cy="30175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52044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«run», «is»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822192"/>
            <a:ext cx="731520" cy="30175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82219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51560" y="3822192"/>
            <a:ext cx="2194560" cy="30175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382219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Прилагательное (Adj.)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46120" y="3822192"/>
            <a:ext cx="1828800" cy="30175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82219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«big», «red»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123944"/>
            <a:ext cx="731520" cy="30175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12394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51560" y="4123944"/>
            <a:ext cx="2194560" cy="30175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412394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Наречие (Adverb)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46120" y="4123944"/>
            <a:ext cx="1828800" cy="30175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412394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«quickly», «very»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4425696"/>
            <a:ext cx="731520" cy="30175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42569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51560" y="4425696"/>
            <a:ext cx="2194560" cy="30175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442569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Артикль (Determiner)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46120" y="4425696"/>
            <a:ext cx="1828800" cy="30175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442569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«the», «a»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4727448"/>
            <a:ext cx="731520" cy="30175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7274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051560" y="4727448"/>
            <a:ext cx="2194560" cy="30175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7280" y="472744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Предлог (Preposition)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46120" y="4727448"/>
            <a:ext cx="1828800" cy="30175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91840" y="472744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«in», «of», «on»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937760" y="2926080"/>
            <a:ext cx="3886200" cy="192024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492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разметки: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74920" y="3255264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«The/DT  quick/JJ  brown/JJ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fox/NN  jumps/VBZ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over/IN  the/DT  lazy/JJ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dog/NN»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Витерби для POS-разметки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Markov Model (HMM) + динамическое программирование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5029200" cy="685800"/>
          </a:xfrm>
          <a:prstGeom prst="rect">
            <a:avLst/>
          </a:prstGeom>
          <a:solidFill>
            <a:srgbClr val="EEF3FF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63040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P(tags | words) ∝ P(words | tags) × P(tags)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" y="1856232"/>
            <a:ext cx="4809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probability × Transition probability (по теореме Байеса)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77840" y="1417320"/>
            <a:ext cx="3246120" cy="338328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алгоритма: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15000" y="178308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Инициализация: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δ₁(j) = π_j · b_j(o₁)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15000" y="249631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Рекурсия: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δₜ(j) = max_i[δₜ₋₁(i)·aᵢⱼ]·bⱼ(oₜ)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5000" y="320954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Завершение: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P* = max_i δ_T(i)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392277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Backtracking: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восстановление оптимального пути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" y="2176272"/>
            <a:ext cx="676656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1762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19072" y="2176272"/>
            <a:ext cx="676656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19072" y="21762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33472" y="2176272"/>
            <a:ext cx="676656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21762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47872" y="2176272"/>
            <a:ext cx="676656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21762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3957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7614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1272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349300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77824" y="2377440"/>
            <a:ext cx="530352" cy="29260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2224" y="2377440"/>
            <a:ext cx="530352" cy="29260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06624" y="2377440"/>
            <a:ext cx="530352" cy="29260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21024" y="2377440"/>
            <a:ext cx="530352" cy="29260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2743200"/>
            <a:ext cx="530352" cy="29260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92224" y="2743200"/>
            <a:ext cx="530352" cy="29260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06624" y="2743200"/>
            <a:ext cx="530352" cy="29260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21024" y="2743200"/>
            <a:ext cx="530352" cy="292608"/>
          </a:xfrm>
          <a:prstGeom prst="ellipse">
            <a:avLst/>
          </a:prstGeom>
          <a:solidFill>
            <a:srgbClr val="1A3A6E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" y="3108960"/>
            <a:ext cx="530352" cy="29260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92224" y="3108960"/>
            <a:ext cx="530352" cy="29260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06624" y="3108960"/>
            <a:ext cx="530352" cy="29260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21024" y="3108960"/>
            <a:ext cx="530352" cy="29260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" y="3474720"/>
            <a:ext cx="530352" cy="292608"/>
          </a:xfrm>
          <a:prstGeom prst="ellipse">
            <a:avLst/>
          </a:prstGeom>
          <a:solidFill>
            <a:srgbClr val="663300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92224" y="3474720"/>
            <a:ext cx="530352" cy="292608"/>
          </a:xfrm>
          <a:prstGeom prst="ellipse">
            <a:avLst/>
          </a:prstGeom>
          <a:solidFill>
            <a:srgbClr val="663300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06624" y="3474720"/>
            <a:ext cx="530352" cy="292608"/>
          </a:xfrm>
          <a:prstGeom prst="ellipse">
            <a:avLst/>
          </a:prstGeom>
          <a:solidFill>
            <a:srgbClr val="663300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21024" y="3474720"/>
            <a:ext cx="530352" cy="292608"/>
          </a:xfrm>
          <a:prstGeom prst="ellipse">
            <a:avLst/>
          </a:prstGeom>
          <a:solidFill>
            <a:srgbClr val="663300"/>
          </a:solidFill>
          <a:ln w="12700">
            <a:solidFill>
              <a:srgbClr val="A8C8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43000" y="2523744"/>
            <a:ext cx="914400" cy="1097280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57400" y="3621024"/>
            <a:ext cx="914400" cy="0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71800" y="2889504"/>
            <a:ext cx="914400" cy="365760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3840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Оптимальный путь Витерби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+ Viterbi применяется в Stanford NLP, spaCy, NLTK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 (BoW) и Term Frequency (TF)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Представление текстов как векторов в пространстве слов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371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91640" y="1417320"/>
            <a:ext cx="6400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417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417320"/>
            <a:ext cx="6400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417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71800" y="1417320"/>
            <a:ext cx="6400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417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1417320"/>
            <a:ext cx="6400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417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1417320"/>
            <a:ext cx="6400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4173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764792"/>
            <a:ext cx="137160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764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1: «The cat sat»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91640" y="1764792"/>
            <a:ext cx="640080" cy="384048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764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31720" y="1764792"/>
            <a:ext cx="640080" cy="384048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1764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71800" y="1764792"/>
            <a:ext cx="640080" cy="384048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1764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11880" y="1764792"/>
            <a:ext cx="640080" cy="384048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1764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1764792"/>
            <a:ext cx="640080" cy="384048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1764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148840"/>
            <a:ext cx="137160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2: «The dog runs»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91640" y="2148840"/>
            <a:ext cx="640080" cy="384048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2148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31720" y="2148840"/>
            <a:ext cx="640080" cy="384048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2148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71800" y="2148840"/>
            <a:ext cx="640080" cy="384048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1800" y="2148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11880" y="2148840"/>
            <a:ext cx="640080" cy="384048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2148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51960" y="2148840"/>
            <a:ext cx="640080" cy="384048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51960" y="2148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2532888"/>
            <a:ext cx="137160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5328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3: «Cat runs fast»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691640" y="2532888"/>
            <a:ext cx="640080" cy="384048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2532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31720" y="2532888"/>
            <a:ext cx="640080" cy="384048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31720" y="2532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71800" y="2532888"/>
            <a:ext cx="640080" cy="384048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71800" y="2532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11880" y="2532888"/>
            <a:ext cx="640080" cy="384048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11880" y="2532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251960" y="2532888"/>
            <a:ext cx="640080" cy="384048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51960" y="2532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2926080"/>
            <a:ext cx="8503920" cy="187452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Term Frequency (TF):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3273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600200" y="3273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tf(t,d) = count(t, d)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6072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просто кол-во вхождений термина t в документе 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5720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norm: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60020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tf(t,d) = log(1 + count(t, d))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76072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log-нормализация, уменьшает влияние частых слов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7200" y="4224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Bool: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600200" y="4224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tf(t,d) = 1  if t ∈ d  else  0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760720" y="4224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бинарное вхождение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— Term Frequency–Inverse Document Frequency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Взвешивание терминов с учётом их редкости в коллекции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14800" cy="685800"/>
          </a:xfrm>
          <a:prstGeom prst="rect">
            <a:avLst/>
          </a:prstGeom>
          <a:solidFill>
            <a:srgbClr val="EEF3FF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6304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IDF(t) = log( N / df(t) 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" y="1856232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всего документов; df(t) — документов, содержащих термин 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4206240" cy="685800"/>
          </a:xfrm>
          <a:prstGeom prst="rect">
            <a:avLst/>
          </a:prstGeom>
          <a:solidFill>
            <a:srgbClr val="EEF3FF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463040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TF-IDF(t, d) = TF(t, d) × IDF(t)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36008" y="1856232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важность термина t в документе 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8503920" cy="256032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Числовой пример: N=3 документа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3716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69748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2697480"/>
            <a:ext cx="109728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65376" y="2697480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TF(Doc1)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2697480"/>
            <a:ext cx="54864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62656" y="269748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2697480"/>
            <a:ext cx="256032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1296" y="269748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= log(3/df)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697480"/>
            <a:ext cx="164592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269748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(Doc1)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36392"/>
            <a:ext cx="1371600" cy="43891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13639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«банк»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3136392"/>
            <a:ext cx="1097280" cy="43891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3136392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136392"/>
            <a:ext cx="548640" cy="43891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62656" y="313639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3136392"/>
            <a:ext cx="2560320" cy="43891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11296" y="313639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log(3/1) = 1.099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3136392"/>
            <a:ext cx="1645920" cy="43891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3136392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75304"/>
            <a:ext cx="137160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3575304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«кредит»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0" y="3575304"/>
            <a:ext cx="109728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65376" y="3575304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0" y="3575304"/>
            <a:ext cx="54864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62656" y="3575304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0" y="3575304"/>
            <a:ext cx="256032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11296" y="357530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log(3/2) = 0.405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3575304"/>
            <a:ext cx="164592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71616" y="3575304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014216"/>
            <a:ext cx="1371600" cy="43891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" y="401421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«the»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0" y="4014216"/>
            <a:ext cx="1097280" cy="43891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65376" y="4014216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26080" y="4014216"/>
            <a:ext cx="548640" cy="43891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62656" y="401421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74720" y="4014216"/>
            <a:ext cx="2560320" cy="43891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11296" y="401421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log(3/3) = 0.000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35040" y="4014216"/>
            <a:ext cx="1645920" cy="438912"/>
          </a:xfrm>
          <a:prstGeom prst="rect">
            <a:avLst/>
          </a:prstGeom>
          <a:solidFill>
            <a:srgbClr val="0D1B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014216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Высокочастотные слова типа «the» получают TF-IDF ≈ 0 — это встроенная стоп-слова фильтрация!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— Best Match 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Улучшенная модель ранжирования — стандарт de facto для поисковых систем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91440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BM25(d, q) = Σ_t  IDF(t) 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4447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tf(t,d) · (k₁ + 1)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tf(t,d) + k₁ · (1 − b + b · |d|/avgdl)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3931920" cy="1280160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BM25: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k₁ = 1.5  — насыщение TF (TF saturation)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44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= 0.75 — нормализация по длине документа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46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avgdl    — средняя длина документа в коллекции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2423160"/>
            <a:ext cx="4389120" cy="246888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468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saturation: BM25 vs Raw TF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4572000"/>
            <a:ext cx="3657600" cy="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4572000"/>
            <a:ext cx="0" cy="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4617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8"/>
                </a:solidFill>
              </a:rPr>
              <a:t>TF count →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80560" y="31089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8C8"/>
                </a:solidFill>
              </a:rPr>
              <a:t>Score ↑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4572000"/>
            <a:ext cx="418011" cy="0"/>
          </a:xfrm>
          <a:prstGeom prst="line">
            <a:avLst/>
          </a:prstGeom>
          <a:noFill/>
          <a:ln w="1270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4572000"/>
            <a:ext cx="418011" cy="0"/>
          </a:xfrm>
          <a:prstGeom prst="line">
            <a:avLst/>
          </a:prstGeom>
          <a:noFill/>
          <a:ln w="12700">
            <a:solidFill>
              <a:srgbClr val="4EE4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72891" y="4368219"/>
            <a:ext cx="418011" cy="0"/>
          </a:xfrm>
          <a:prstGeom prst="line">
            <a:avLst/>
          </a:prstGeom>
          <a:noFill/>
          <a:ln w="1270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72891" y="4429354"/>
            <a:ext cx="418011" cy="0"/>
          </a:xfrm>
          <a:prstGeom prst="line">
            <a:avLst/>
          </a:prstGeom>
          <a:noFill/>
          <a:ln w="12700">
            <a:solidFill>
              <a:srgbClr val="4EE4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0903" y="4164439"/>
            <a:ext cx="418011" cy="0"/>
          </a:xfrm>
          <a:prstGeom prst="line">
            <a:avLst/>
          </a:prstGeom>
          <a:noFill/>
          <a:ln w="12700">
            <a:solidFill>
              <a:srgbClr val="FF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90903" y="4347841"/>
            <a:ext cx="418011" cy="0"/>
          </a:xfrm>
          <a:prstGeom prst="line">
            <a:avLst/>
          </a:prstGeom>
          <a:noFill/>
          <a:ln w="12700">
            <a:solidFill>
              <a:srgbClr val="4EE4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08914" y="3960658"/>
            <a:ext cx="418011" cy="0"/>
          </a:xfrm>
          <a:prstGeom prst="line">
            <a:avLst/>
          </a:prstGeom>
          <a:noFill/>
          <a:ln w="12700">
            <a:solidFill>
              <a:srgbClr val="FF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08914" y="4296896"/>
            <a:ext cx="418011" cy="0"/>
          </a:xfrm>
          <a:prstGeom prst="line">
            <a:avLst/>
          </a:prstGeom>
          <a:noFill/>
          <a:ln w="12700">
            <a:solidFill>
              <a:srgbClr val="4EE4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26926" y="3756878"/>
            <a:ext cx="418011" cy="0"/>
          </a:xfrm>
          <a:prstGeom prst="line">
            <a:avLst/>
          </a:prstGeom>
          <a:noFill/>
          <a:ln w="127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6926" y="4266329"/>
            <a:ext cx="418011" cy="0"/>
          </a:xfrm>
          <a:prstGeom prst="line">
            <a:avLst/>
          </a:prstGeom>
          <a:noFill/>
          <a:ln w="12700">
            <a:solidFill>
              <a:srgbClr val="4EE4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44937" y="3553097"/>
            <a:ext cx="836023" cy="0"/>
          </a:xfrm>
          <a:prstGeom prst="line">
            <a:avLst/>
          </a:prstGeom>
          <a:noFill/>
          <a:ln w="12700">
            <a:solidFill>
              <a:srgbClr val="FF6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44937" y="4245951"/>
            <a:ext cx="836023" cy="0"/>
          </a:xfrm>
          <a:prstGeom prst="line">
            <a:avLst/>
          </a:prstGeom>
          <a:noFill/>
          <a:ln w="12700">
            <a:solidFill>
              <a:srgbClr val="4EE4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3145536"/>
            <a:ext cx="731520" cy="0"/>
          </a:xfrm>
          <a:prstGeom prst="line">
            <a:avLst/>
          </a:prstGeom>
          <a:noFill/>
          <a:ln w="12700">
            <a:solidFill>
              <a:srgbClr val="FF6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4225573"/>
            <a:ext cx="731520" cy="0"/>
          </a:xfrm>
          <a:prstGeom prst="line">
            <a:avLst/>
          </a:prstGeom>
          <a:noFill/>
          <a:ln w="12700">
            <a:solidFill>
              <a:srgbClr val="4EE4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24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Raw TF (линейный)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0" y="4224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E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BM25 (насыщение)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BM25 применяется в Elasticsearch, Lucene, Solr, Whoosh — де-факто стандарт классического IR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Инвертированный индекс и Векторная модель (VSM)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 + Vector Space Model (VSM) + Cosine Similarity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14800" cy="320040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Инвертированный индекс: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" cy="475488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«банк»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25880" y="18288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[d1:(3,7), d4:(1,15), d9:(2)]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822960" cy="475488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9631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«кредит»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25880" y="249631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[d1:(5), d7:(2,11)]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822960" cy="475488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6382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«кошка»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25880" y="31638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[d2:(1), d3:(4,8,12)]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831336"/>
            <a:ext cx="822960" cy="475488"/>
          </a:xfrm>
          <a:prstGeom prst="rect">
            <a:avLst/>
          </a:prstGeom>
          <a:solidFill>
            <a:srgbClr val="2D5BE3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31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«python»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25880" y="38313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[d5:(2,6), d8:(3)]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53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</a:rPr>
              <a:t>Формат: термин → [(doc_id, позиции), ...]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160520" cy="3200400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Векторная модель (VSM):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801368"/>
            <a:ext cx="3840480" cy="685800"/>
          </a:xfrm>
          <a:prstGeom prst="rect">
            <a:avLst/>
          </a:prstGeom>
          <a:solidFill>
            <a:srgbClr val="EEF3FF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1847088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cos(d, q) = (d · q) / (|d| × |q|)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10328" y="2240280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и q — TF-IDF векторы документа и запроса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97880" y="2743200"/>
            <a:ext cx="1828800" cy="1828800"/>
          </a:xfrm>
          <a:prstGeom prst="ellipse">
            <a:avLst/>
          </a:prstGeom>
          <a:solidFill>
            <a:srgbClr val="1A3A6E">
              <a:alpha val="5000"/>
            </a:srgbClr>
          </a:solidFill>
          <a:ln w="12700">
            <a:solidFill>
              <a:srgbClr val="4E9AF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812280" y="3657600"/>
            <a:ext cx="640080" cy="0"/>
          </a:xfrm>
          <a:prstGeom prst="line">
            <a:avLst/>
          </a:prstGeom>
          <a:noFill/>
          <a:ln w="12700">
            <a:solidFill>
              <a:srgbClr val="4E9A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2743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</a:rPr>
              <a:t>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3657600"/>
            <a:ext cx="868680" cy="0"/>
          </a:xfrm>
          <a:prstGeom prst="line">
            <a:avLst/>
          </a:prstGeom>
          <a:noFill/>
          <a:ln w="12700">
            <a:solidFill>
              <a:srgbClr val="FFD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32461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q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3090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F43"/>
                </a:solidFill>
              </a:rPr>
              <a:t>θ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2245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cos(θ) = 1: идеальное совпадение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cos(θ) = 0: ортогональные векторы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Наивный Байес для классификации текстов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Classifier — быстрый вероятностный классификатор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685800"/>
          </a:xfrm>
          <a:prstGeom prst="rect">
            <a:avLst/>
          </a:prstGeom>
          <a:solidFill>
            <a:srgbClr val="EEF3FF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63040"/>
            <a:ext cx="8284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 | w₁...wₙ) ∝ P(c) × Π P(wᵢ | c)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" y="1856232"/>
            <a:ext cx="8284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класс, wᵢ — слова документа (предположение независимости)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8503920" cy="256032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SPAM vs HAM — 4 слова в письме: «buy», «now», «cheap», «offer»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777240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44952"/>
            <a:ext cx="777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P(SPAM)=0.6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2588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P(buy|SP)=0.1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P(now|SP)=0.05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P(cheap|SP)=0.08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P(offer|SP)=0.07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31089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Score = 0.6 × 0.1 × 0.05 × 0.08 × 0.07 = 1.68×10⁻⁵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777240" cy="868680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1188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50792"/>
            <a:ext cx="777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P(HAM)=0.4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2588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P(buy|HAM)=0.01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P(now|HAM)=0.02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P(cheap|HAM)=0.005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P(offer|HAM)=0.003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25880" y="41148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Score = 0.4 × 0.01 × 0.02 × 0.005 × 0.003 = 1.2×10⁻¹⁰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SPAM выигрывает — письмо классифицируется как спам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 Information Retrieval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MAP, nDCG — оценка качества поиска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3200400" cy="237744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73936"/>
            <a:ext cx="1005840" cy="512064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7393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63040" y="1773936"/>
            <a:ext cx="1005840" cy="512064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77393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Релевантный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773936"/>
            <a:ext cx="1005840" cy="512064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77393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Нерелевантный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1005840" cy="512064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Извлечён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63040" y="2286000"/>
            <a:ext cx="1005840" cy="512064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228600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68880" y="2286000"/>
            <a:ext cx="1005840" cy="512064"/>
          </a:xfrm>
          <a:prstGeom prst="rect">
            <a:avLst/>
          </a:prstGeom>
          <a:solidFill>
            <a:srgbClr val="99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28600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798064"/>
            <a:ext cx="1005840" cy="512064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9806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извлечён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63040" y="2798064"/>
            <a:ext cx="1005840" cy="512064"/>
          </a:xfrm>
          <a:prstGeom prst="rect">
            <a:avLst/>
          </a:prstGeom>
          <a:solidFill>
            <a:srgbClr val="663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279806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68880" y="2798064"/>
            <a:ext cx="1005840" cy="512064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279806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49040" y="1417320"/>
            <a:ext cx="5074920" cy="237744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1463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метрики: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86200" y="1783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(P):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0352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TP / (TP + FP)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26680" y="1783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C8"/>
                </a:solidFill>
              </a:rPr>
              <a:t>← Точность — доля верных из найденных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86200" y="2258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(R):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TP / (TP + FN)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26680" y="2258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C8"/>
                </a:solidFill>
              </a:rPr>
              <a:t>← Полнота — доля найденных из всех верных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86200" y="2734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03520" y="2734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2PR / (P + R)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26680" y="27340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C8"/>
                </a:solidFill>
              </a:rPr>
              <a:t>← Гармоническое среднее P и 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86200" y="32095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03520" y="3209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= avg AP_q  по всем запросам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26680" y="3209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C8"/>
                </a:solidFill>
              </a:rPr>
              <a:t>← Mean Average Precision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3886200"/>
            <a:ext cx="8503920" cy="987552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Precision@3: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224528"/>
            <a:ext cx="2103120" cy="502920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224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— релевантный 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51760" y="4224528"/>
            <a:ext cx="2103120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51760" y="4224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— не релевантный ✗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4224528"/>
            <a:ext cx="2103120" cy="502920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4224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— релевантный ✔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40880" y="4224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P@3 = 2/3 = 0.667  (2 релевантных из 3 возвращённых)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TF-IDF поиск на Python (scikit-learn)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 + cosine_similarity — 12 строк кода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5029200" cy="3383280"/>
          </a:xfrm>
          <a:prstGeom prst="rect">
            <a:avLst/>
          </a:prstGeom>
          <a:solidFill>
            <a:srgbClr val="1A1F36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90472"/>
            <a:ext cx="484632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sklearn.feature_extraction.text import TfidfVectorizer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sklearn.metrics.pairwise import cosine_similarity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corpus =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"The cat sat on the mat",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"The dog runs in the park",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"Information retrieval with TF-IDF is powerful",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["retrieval cat sat"]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 = TfidfVectorizer()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tfidf_matrix = vec.fit_transform(corpus)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query_vec    = vec.transform(query)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cosine_similarity(query_vec, tfidf_matrix).flatten()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top3   = np.argsort(scores)[::-1][:3]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rank, idx in enumerate(top3):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print(f"Rank {rank+1}: doc[{idx}] score={scores[idx]:.3f}")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32120" y="1417320"/>
            <a:ext cx="3291840" cy="1371600"/>
          </a:xfrm>
          <a:prstGeom prst="rect">
            <a:avLst/>
          </a:prstGeom>
          <a:solidFill>
            <a:srgbClr val="1A1F3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463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Output: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7647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1: doc[2] score=0.612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2: doc[0] score=0.201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3: doc[1] score=0.000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32120" y="2880360"/>
            <a:ext cx="3291840" cy="192024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матрица (фрагмент):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3218688"/>
            <a:ext cx="457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32186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3218688"/>
            <a:ext cx="6400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2186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3218688"/>
            <a:ext cx="8229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2186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3218688"/>
            <a:ext cx="548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3218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3584448"/>
            <a:ext cx="457200" cy="365760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584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3584448"/>
            <a:ext cx="640080" cy="365760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5844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3584448"/>
            <a:ext cx="822960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584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89520" y="3584448"/>
            <a:ext cx="548640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35844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0" y="3950208"/>
            <a:ext cx="457200" cy="365760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950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3950208"/>
            <a:ext cx="640080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3950208"/>
            <a:ext cx="822960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9502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89520" y="3950208"/>
            <a:ext cx="548640" cy="365760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39502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4315968"/>
            <a:ext cx="457200" cy="365760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4315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4315968"/>
            <a:ext cx="640080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4315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4315968"/>
            <a:ext cx="822960" cy="365760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43159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89520" y="4315968"/>
            <a:ext cx="548640" cy="365760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4315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sklearn реализует TF-IDF с L2-нормализацией; cosine_similarity даёт оценку от 0 до 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лекции и дорожная карта курса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4114800" cy="2743200"/>
          </a:xfrm>
          <a:prstGeom prst="rect">
            <a:avLst/>
          </a:prstGeom>
          <a:solidFill>
            <a:srgbClr val="1A3A6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ключевых вывода: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Иерархия Хомского: язык — это Type 2 (в среднем), но реальный NLP сложнее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TF-IDF и BM25 — мощные baseline-методы для поиска и классификации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2938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Инвертированный индекс обеспечивает O(1) поиск по терминам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682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Морфологический анализ (стемминг/лемматизация) критичен для точности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Наивный Байес — быстрый и эффективный для коротких текстов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685800"/>
            <a:ext cx="4160520" cy="2743200"/>
          </a:xfrm>
          <a:prstGeom prst="rect">
            <a:avLst/>
          </a:prstGeom>
          <a:solidFill>
            <a:srgbClr val="0D1B4E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731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 курса: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051560"/>
            <a:ext cx="2194560" cy="420624"/>
          </a:xfrm>
          <a:prstGeom prst="rect">
            <a:avLst/>
          </a:prstGeom>
          <a:solidFill>
            <a:srgbClr val="4E9A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515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Правила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59168" y="1216152"/>
            <a:ext cx="228600" cy="13716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161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1950-1990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1508760"/>
            <a:ext cx="2194560" cy="420624"/>
          </a:xfrm>
          <a:prstGeom prst="rect">
            <a:avLst/>
          </a:prstGeom>
          <a:solidFill>
            <a:srgbClr val="2D5B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5087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Статистика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(Statistics)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59168" y="1673352"/>
            <a:ext cx="228600" cy="13716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618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1990-2012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1965960"/>
            <a:ext cx="2194560" cy="420624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9659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Deep Learning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(DL + LSTM)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59168" y="2130552"/>
            <a:ext cx="228600" cy="13716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075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2012-2017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2423160"/>
            <a:ext cx="219456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4231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Трансформеры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(GPT, BERT)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59168" y="2587752"/>
            <a:ext cx="228600" cy="13716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532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2017-2023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2880360"/>
            <a:ext cx="2194560" cy="420624"/>
          </a:xfrm>
          <a:prstGeom prst="rect">
            <a:avLst/>
          </a:prstGeom>
          <a:solidFill>
            <a:srgbClr val="663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8803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LLM Agents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(RAG, Chain-of-Thought)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2990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2023+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520440"/>
            <a:ext cx="8503920" cy="1325880"/>
          </a:xfrm>
          <a:prstGeom prst="rect">
            <a:avLst/>
          </a:prstGeom>
          <a:solidFill>
            <a:srgbClr val="0D3320"/>
          </a:solidFill>
          <a:ln w="12700">
            <a:solidFill>
              <a:srgbClr val="4EE4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E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Домашнее задание: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38587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TF-IDF поисковую систему на Python по корпусу новостей (RSS-лента на ваш выбор).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Требования: ≥500 документов, top-10 по запросу, Precision@5 ≥ 0.6, отчёт в Jupyter Notebook.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2075</Words>
  <Application>Microsoft Office PowerPoint</Application>
  <PresentationFormat>On-screen Show (16:9)</PresentationFormat>
  <Paragraphs>432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Классические методы NLP и информационного поиска</dc:title>
  <dc:subject>PptxGenJS Presentation</dc:subject>
  <dc:creator>NLP Course</dc:creator>
  <cp:lastModifiedBy>Artem Aliev</cp:lastModifiedBy>
  <cp:revision>2</cp:revision>
  <dcterms:created xsi:type="dcterms:W3CDTF">2026-02-11T07:43:22Z</dcterms:created>
  <dcterms:modified xsi:type="dcterms:W3CDTF">2026-02-11T08:02:03Z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1770796014</vt:lpwstr>
  </property>
</Properties>
</file>